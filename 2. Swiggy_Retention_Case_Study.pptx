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8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5C2C00">
                <a:alpha val="3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76656" y="649224"/>
            <a:ext cx="457200" cy="457200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4980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5029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THINKING ANALYSIS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911096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Retention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67588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systems-thinking diagnosis of the first-order-to-second-order retention leak — and what leadership should chase instead of order volume.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715000"/>
            <a:ext cx="69037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7150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Product Leadership Team   </a:t>
            </a:r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 </a:t>
            </a:r>
            <a:pPr indent="0" marL="0">
              <a:buNone/>
            </a:pPr>
            <a:r>
              <a:rPr lang="en-US" sz="113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1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7936992" y="384048"/>
            <a:ext cx="3611880" cy="6089904"/>
          </a:xfrm>
          <a:prstGeom prst="roundRect">
            <a:avLst>
              <a:gd name="adj" fmla="val 1519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0" y="493776"/>
            <a:ext cx="3392424" cy="5870448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48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11:11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16" y="576072"/>
            <a:ext cx="146304" cy="14630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76072"/>
            <a:ext cx="146304" cy="146304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576072"/>
            <a:ext cx="164592" cy="1463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78924" y="585216"/>
            <a:ext cx="128016" cy="128016"/>
          </a:xfrm>
          <a:prstGeom prst="ellipse">
            <a:avLst/>
          </a:prstGeom>
          <a:solidFill>
            <a:srgbClr val="282C3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715500" y="608076"/>
            <a:ext cx="41148" cy="41148"/>
          </a:xfrm>
          <a:prstGeom prst="ellipse">
            <a:avLst/>
          </a:prstGeom>
          <a:solidFill>
            <a:srgbClr val="4A5068"/>
          </a:solidFill>
          <a:ln/>
        </p:spPr>
      </p:sp>
      <p:sp>
        <p:nvSpPr>
          <p:cNvPr id="19" name="Shape 13"/>
          <p:cNvSpPr/>
          <p:nvPr/>
        </p:nvSpPr>
        <p:spPr>
          <a:xfrm>
            <a:off x="8046720" y="768096"/>
            <a:ext cx="3392424" cy="713232"/>
          </a:xfrm>
          <a:prstGeom prst="rect">
            <a:avLst/>
          </a:prstGeom>
          <a:solidFill>
            <a:srgbClr val="FC801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84124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75904" y="786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Sector 62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193024" y="1060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 25 mins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193024" y="1298448"/>
            <a:ext cx="3099816" cy="384048"/>
          </a:xfrm>
          <a:prstGeom prst="roundRect">
            <a:avLst>
              <a:gd name="adj" fmla="val 119048"/>
            </a:avLst>
          </a:prstGeom>
          <a:solidFill>
            <a:srgbClr val="F5F5F7"/>
          </a:solidFill>
          <a:ln w="9525">
            <a:solidFill>
              <a:srgbClr val="E4E4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39903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558784" y="129844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restaurant, dish...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8351901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629" y="1911096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93024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750" dirty="0"/>
          </a:p>
        </p:txBody>
      </p:sp>
      <p:sp>
        <p:nvSpPr>
          <p:cNvPr id="29" name="Shape 20"/>
          <p:cNvSpPr/>
          <p:nvPr/>
        </p:nvSpPr>
        <p:spPr>
          <a:xfrm>
            <a:off x="9126855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6583" y="1911096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967978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</a:t>
            </a:r>
            <a:endParaRPr lang="en-US" sz="750" dirty="0"/>
          </a:p>
        </p:txBody>
      </p:sp>
      <p:sp>
        <p:nvSpPr>
          <p:cNvPr id="32" name="Shape 22"/>
          <p:cNvSpPr/>
          <p:nvPr/>
        </p:nvSpPr>
        <p:spPr>
          <a:xfrm>
            <a:off x="9901809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1537" y="191109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742932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750" dirty="0"/>
          </a:p>
        </p:txBody>
      </p:sp>
      <p:sp>
        <p:nvSpPr>
          <p:cNvPr id="35" name="Shape 24"/>
          <p:cNvSpPr/>
          <p:nvPr/>
        </p:nvSpPr>
        <p:spPr>
          <a:xfrm>
            <a:off x="10676763" y="1810512"/>
            <a:ext cx="457200" cy="45720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6491" y="1911096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0517886" y="2286000"/>
            <a:ext cx="7749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750" dirty="0"/>
          </a:p>
        </p:txBody>
      </p:sp>
      <p:sp>
        <p:nvSpPr>
          <p:cNvPr id="38" name="Shape 26"/>
          <p:cNvSpPr/>
          <p:nvPr/>
        </p:nvSpPr>
        <p:spPr>
          <a:xfrm>
            <a:off x="8193024" y="2560320"/>
            <a:ext cx="3099816" cy="621792"/>
          </a:xfrm>
          <a:prstGeom prst="roundRect">
            <a:avLst>
              <a:gd name="adj" fmla="val 8824"/>
            </a:avLst>
          </a:prstGeom>
          <a:solidFill>
            <a:srgbClr val="FFF3E9"/>
          </a:solidFill>
          <a:ln w="9525">
            <a:solidFill>
              <a:srgbClr val="FC8019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357616" y="2560320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50% OFF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D41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first 2 orders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8193024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NEAR YOU</a:t>
            </a:r>
            <a:endParaRPr lang="en-US" sz="850" dirty="0"/>
          </a:p>
        </p:txBody>
      </p:sp>
      <p:sp>
        <p:nvSpPr>
          <p:cNvPr id="41" name="Shape 29"/>
          <p:cNvSpPr/>
          <p:nvPr/>
        </p:nvSpPr>
        <p:spPr>
          <a:xfrm>
            <a:off x="8193024" y="3584448"/>
            <a:ext cx="309981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DEDF2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8193024" y="3584448"/>
            <a:ext cx="3099816" cy="502920"/>
          </a:xfrm>
          <a:prstGeom prst="roundRect">
            <a:avLst>
              <a:gd name="adj" fmla="val 9091"/>
            </a:avLst>
          </a:prstGeom>
          <a:solidFill>
            <a:srgbClr val="F6DEB9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9196" y="3671316"/>
            <a:ext cx="347472" cy="347472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10725912" y="3657600"/>
            <a:ext cx="438912" cy="201168"/>
          </a:xfrm>
          <a:prstGeom prst="roundRect">
            <a:avLst>
              <a:gd name="adj" fmla="val 136364"/>
            </a:avLst>
          </a:prstGeom>
          <a:solidFill>
            <a:srgbClr val="60B246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0776" y="3689604"/>
            <a:ext cx="118872" cy="11887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1092708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750" dirty="0"/>
          </a:p>
        </p:txBody>
      </p:sp>
      <p:sp>
        <p:nvSpPr>
          <p:cNvPr id="47" name="Text 33"/>
          <p:cNvSpPr/>
          <p:nvPr/>
        </p:nvSpPr>
        <p:spPr>
          <a:xfrm>
            <a:off x="8266176" y="412394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Route Kitchen</a:t>
            </a:r>
            <a:endParaRPr lang="en-US" sz="950" dirty="0"/>
          </a:p>
        </p:txBody>
      </p:sp>
      <p:sp>
        <p:nvSpPr>
          <p:cNvPr id="48" name="Text 34"/>
          <p:cNvSpPr/>
          <p:nvPr/>
        </p:nvSpPr>
        <p:spPr>
          <a:xfrm>
            <a:off x="8266176" y="430682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· Biryani</a:t>
            </a:r>
            <a:endParaRPr lang="en-US" sz="75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6176" y="4466844"/>
            <a:ext cx="100584" cy="100584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8403336" y="444398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  ·  ₹350 for two</a:t>
            </a:r>
            <a:endParaRPr lang="en-US" sz="750" dirty="0"/>
          </a:p>
        </p:txBody>
      </p:sp>
      <p:sp>
        <p:nvSpPr>
          <p:cNvPr id="51" name="Shape 36"/>
          <p:cNvSpPr/>
          <p:nvPr/>
        </p:nvSpPr>
        <p:spPr>
          <a:xfrm>
            <a:off x="8193024" y="4745736"/>
            <a:ext cx="309981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DEDF2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8193024" y="4745736"/>
            <a:ext cx="3099816" cy="502920"/>
          </a:xfrm>
          <a:prstGeom prst="roundRect">
            <a:avLst>
              <a:gd name="adj" fmla="val 9091"/>
            </a:avLst>
          </a:prstGeom>
          <a:solidFill>
            <a:srgbClr val="F4D9D9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9196" y="4832604"/>
            <a:ext cx="347472" cy="347472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10725912" y="4818888"/>
            <a:ext cx="438912" cy="201168"/>
          </a:xfrm>
          <a:prstGeom prst="roundRect">
            <a:avLst>
              <a:gd name="adj" fmla="val 136364"/>
            </a:avLst>
          </a:prstGeom>
          <a:solidFill>
            <a:srgbClr val="60B246"/>
          </a:solidFill>
          <a:ln/>
        </p:spPr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80776" y="4850892"/>
            <a:ext cx="118872" cy="118872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10927080" y="48188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750" dirty="0"/>
          </a:p>
        </p:txBody>
      </p:sp>
      <p:sp>
        <p:nvSpPr>
          <p:cNvPr id="57" name="Text 40"/>
          <p:cNvSpPr/>
          <p:nvPr/>
        </p:nvSpPr>
        <p:spPr>
          <a:xfrm>
            <a:off x="8266176" y="528523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Wok Co.</a:t>
            </a:r>
            <a:endParaRPr lang="en-US" sz="950" dirty="0"/>
          </a:p>
        </p:txBody>
      </p:sp>
      <p:sp>
        <p:nvSpPr>
          <p:cNvPr id="58" name="Text 41"/>
          <p:cNvSpPr/>
          <p:nvPr/>
        </p:nvSpPr>
        <p:spPr>
          <a:xfrm>
            <a:off x="8266176" y="5468112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· Asian</a:t>
            </a:r>
            <a:endParaRPr lang="en-US" sz="7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6176" y="5628132"/>
            <a:ext cx="100584" cy="100584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8403336" y="560527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min  ·  ₹300 for two</a:t>
            </a:r>
            <a:endParaRPr lang="en-US" sz="750" dirty="0"/>
          </a:p>
        </p:txBody>
      </p:sp>
      <p:sp>
        <p:nvSpPr>
          <p:cNvPr id="61" name="Shape 43"/>
          <p:cNvSpPr/>
          <p:nvPr/>
        </p:nvSpPr>
        <p:spPr>
          <a:xfrm>
            <a:off x="8046720" y="5907024"/>
            <a:ext cx="33924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F2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9333" y="5980176"/>
            <a:ext cx="182880" cy="182880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8046720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7439" y="5980176"/>
            <a:ext cx="182880" cy="182880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8894826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</p:txBody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75545" y="5980176"/>
            <a:ext cx="182880" cy="182880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9742932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00" dirty="0"/>
          </a:p>
        </p:txBody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23651" y="5980176"/>
            <a:ext cx="182880" cy="182880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10591038" y="6172200"/>
            <a:ext cx="848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from raw complaint data to a prioritized product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relationships, and the purpose the system actually serves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476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loops are reinforcing the leak, and which balancing loops to design 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5935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611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North Star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0507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"orders per day" hides the problem — and what to track instead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59359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611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vs. Lagging Indicators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0507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the outcome vs. what merely confirms it happened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239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5257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Cascade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696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company vision down to the features worth building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50749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5239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5257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Mapping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5696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prioritized opportunity, with assumptions made explicit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Retention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funnel with a leak at the bottom — it's a system where acquisition, fulfillment, and measurement feed back into each other.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Engine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customers come 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first-time users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referral bonuses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team (owns "orders/day")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21" y="209507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Layer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21808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they order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36008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onboarding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logistics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169164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947672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29" y="2095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43416" y="192938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Incentives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043416" y="22860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is tracked and rewarded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57616" y="269748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Orders/day KPI (sole focus)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metrics set in silos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 — declining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279392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440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SYSTEM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14400" y="47365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Stated: </a:t>
            </a:r>
            <a:pPr indent="0" marL="0">
              <a:buNone/>
            </a:pPr>
            <a:r>
              <a:rPr lang="en-US" sz="13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orders placed per day.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126480" y="47365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first-time trial into durable, profitable ordering habits.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Loops Are Reinforcing the Leak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loops (R) amplify the current trend unchecked. Balancing loops (B) don't yet exist — they need to be designed 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37944"/>
            <a:ext cx="512064" cy="512064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249" y="197108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647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self-feeding cycle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554480" y="18562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 Spiral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2514600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9844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discounting attracts price-sensitive users</a:t>
            </a:r>
            <a:endParaRPr lang="en-US" sz="1170" dirty="0"/>
          </a:p>
        </p:txBody>
      </p:sp>
      <p:sp>
        <p:nvSpPr>
          <p:cNvPr id="12" name="Text 9"/>
          <p:cNvSpPr/>
          <p:nvPr/>
        </p:nvSpPr>
        <p:spPr>
          <a:xfrm>
            <a:off x="896112" y="2990088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298448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form no intrinsic loyalty to the app</a:t>
            </a:r>
            <a:endParaRPr lang="en-US" sz="1170" dirty="0"/>
          </a:p>
        </p:txBody>
      </p:sp>
      <p:sp>
        <p:nvSpPr>
          <p:cNvPr id="14" name="Text 11"/>
          <p:cNvSpPr/>
          <p:nvPr/>
        </p:nvSpPr>
        <p:spPr>
          <a:xfrm>
            <a:off x="896112" y="3465576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298448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reorder only when a promo reappears (65% today)</a:t>
            </a:r>
            <a:endParaRPr lang="en-US" sz="1170" dirty="0"/>
          </a:p>
        </p:txBody>
      </p:sp>
      <p:sp>
        <p:nvSpPr>
          <p:cNvPr id="16" name="Text 13"/>
          <p:cNvSpPr/>
          <p:nvPr/>
        </p:nvSpPr>
        <p:spPr>
          <a:xfrm>
            <a:off x="896112" y="3941064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298448" y="3922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pressure forces more discounting to hit order targets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19672" y="1837944"/>
            <a:ext cx="512064" cy="512064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09" y="1971081"/>
            <a:ext cx="245791" cy="24579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835640" y="17647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28700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self-feeding cycle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178040" y="18562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 from Bad Delivery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519672" y="2514600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92200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races ahead of delivery capacity/quality</a:t>
            </a:r>
            <a:endParaRPr lang="en-US" sz="1170" dirty="0"/>
          </a:p>
        </p:txBody>
      </p:sp>
      <p:sp>
        <p:nvSpPr>
          <p:cNvPr id="26" name="Text 22"/>
          <p:cNvSpPr/>
          <p:nvPr/>
        </p:nvSpPr>
        <p:spPr>
          <a:xfrm>
            <a:off x="6519672" y="2990088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922008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tickets on delivery rise (+18% QoQ)</a:t>
            </a:r>
            <a:endParaRPr lang="en-US" sz="1170" dirty="0"/>
          </a:p>
        </p:txBody>
      </p:sp>
      <p:sp>
        <p:nvSpPr>
          <p:cNvPr id="28" name="Text 24"/>
          <p:cNvSpPr/>
          <p:nvPr/>
        </p:nvSpPr>
        <p:spPr>
          <a:xfrm>
            <a:off x="6519672" y="3465576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922008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non-discount users churn quietly</a:t>
            </a:r>
            <a:endParaRPr lang="en-US" sz="1170" dirty="0"/>
          </a:p>
        </p:txBody>
      </p:sp>
      <p:sp>
        <p:nvSpPr>
          <p:cNvPr id="30" name="Text 26"/>
          <p:cNvSpPr/>
          <p:nvPr/>
        </p:nvSpPr>
        <p:spPr>
          <a:xfrm>
            <a:off x="6519672" y="3941064"/>
            <a:ext cx="292608" cy="292608"/>
          </a:xfrm>
          <a:prstGeom prst="rect">
            <a:avLst/>
          </a:prstGeom>
          <a:solidFill>
            <a:srgbClr val="E06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922008" y="3922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active base skews more price-sensitive, worsening the ratio</a:t>
            </a:r>
            <a:endParaRPr lang="en-US" sz="1170" dirty="0"/>
          </a:p>
        </p:txBody>
      </p:sp>
      <p:sp>
        <p:nvSpPr>
          <p:cNvPr id="32" name="Shape 28"/>
          <p:cNvSpPr/>
          <p:nvPr/>
        </p:nvSpPr>
        <p:spPr>
          <a:xfrm>
            <a:off x="640080" y="461772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FF3E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914400" y="4837176"/>
            <a:ext cx="548640" cy="548640"/>
          </a:xfrm>
          <a:prstGeom prst="ellipse">
            <a:avLst/>
          </a:prstGeom>
          <a:solidFill>
            <a:srgbClr val="60B246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979822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645920" y="474573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0B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LOOPS TO DESIGN IN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1645920" y="509320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212848" y="507492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CAC/LTV gate on discount spend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645920" y="541324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2212848" y="539496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metric linking onboarding quality to CX outcomes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645920" y="5733288"/>
            <a:ext cx="457200" cy="292608"/>
          </a:xfrm>
          <a:prstGeom prst="rect">
            <a:avLst/>
          </a:prstGeom>
          <a:solidFill>
            <a:srgbClr val="60B2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2212848" y="571500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restaurant delivery scorecards feeding back into onboarding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“Orders/Day” Is a Vanity Metric in Disguise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110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raw volume — discounting inflates it without effort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86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8437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separate organic demand from promo-driven demand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3133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37764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unit economics — it rises while revenue per user falls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6402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5880" y="47091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ownership — Growth alone controls it; CX and onboarding are untouched by it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199632" y="12801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49224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NORTH STAR METRIC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92240" y="17556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Non-Discount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Rate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6492240" y="2615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i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how many customers keep coming back on their own — not because of a coupon.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6492240" y="3054096"/>
            <a:ext cx="4754880" cy="713232"/>
          </a:xfrm>
          <a:prstGeom prst="roundRect">
            <a:avLst>
              <a:gd name="adj" fmla="val 11538"/>
            </a:avLst>
          </a:prstGeom>
          <a:solidFill>
            <a:srgbClr val="3D4152"/>
          </a:solidFill>
          <a:ln/>
        </p:spPr>
      </p:sp>
      <p:sp>
        <p:nvSpPr>
          <p:cNvPr id="18" name="Text 12"/>
          <p:cNvSpPr/>
          <p:nvPr/>
        </p:nvSpPr>
        <p:spPr>
          <a:xfrm>
            <a:off x="6693408" y="31272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definition: % of Monthly Active Users placing 3+ non-discounted orders within a rolling 90-day window</a:t>
            </a:r>
            <a:endParaRPr lang="en-US" sz="108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363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03136" y="38862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directly to retention, not one-time acquisition</a:t>
            </a:r>
            <a:endParaRPr lang="en-US" sz="103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4281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3136" y="421538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reduces discount dependency by design</a:t>
            </a:r>
            <a:endParaRPr lang="en-US" sz="103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57200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03136" y="454456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by nature — restaurants, delivery, and CX all have to work</a:t>
            </a:r>
            <a:endParaRPr lang="en-US" sz="1030" dirty="0"/>
          </a:p>
        </p:txBody>
      </p:sp>
      <p:sp>
        <p:nvSpPr>
          <p:cNvPr id="25" name="Shape 16"/>
          <p:cNvSpPr/>
          <p:nvPr/>
        </p:nvSpPr>
        <p:spPr>
          <a:xfrm>
            <a:off x="6492240" y="5010912"/>
            <a:ext cx="4754880" cy="530352"/>
          </a:xfrm>
          <a:prstGeom prst="roundRect">
            <a:avLst>
              <a:gd name="adj" fmla="val 15517"/>
            </a:avLst>
          </a:prstGeom>
          <a:solidFill>
            <a:srgbClr val="4A2A1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09320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12864" y="5047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 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0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rise just by cutting discount volume, without real demand growth. Pair it with discount-dependency % so a drop in couponing isn't mistaken for earned retention.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Predicts. Lagging Confirms.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dashboards today are almost entirely lagging. Fixing the leak means acting on leading signals earlier in the cycle.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548640" cy="548640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02631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65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249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signs you can act on now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96112" y="2697480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Time-to-second-order (days)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78992" y="3063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predictor — how fast trial turns into habit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96112" y="3557016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2nd orders placed without a promo code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78992" y="3922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organic, non-discount intent forming early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96112" y="4416552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44897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" y="47823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the experience earns a repeat visit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96112" y="5276088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349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 rate per 1,000 orders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5641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churn shows up in the numbers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199632" y="164592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55664" y="1883664"/>
            <a:ext cx="548640" cy="548640"/>
          </a:xfrm>
          <a:prstGeom prst="ellipse">
            <a:avLst/>
          </a:prstGeom>
          <a:solidFill>
            <a:srgbClr val="282C3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026310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59752" y="1865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Indicators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7159752" y="22494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scorecard, after the fact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455664" y="2697480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27" name="Text 23"/>
          <p:cNvSpPr/>
          <p:nvPr/>
        </p:nvSpPr>
        <p:spPr>
          <a:xfrm>
            <a:off x="6638544" y="27706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purchase rate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38544" y="3063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retention actually happened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6455664" y="3557016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3E9"/>
          </a:solidFill>
          <a:ln/>
        </p:spPr>
      </p:sp>
      <p:sp>
        <p:nvSpPr>
          <p:cNvPr id="30" name="Text 26"/>
          <p:cNvSpPr/>
          <p:nvPr/>
        </p:nvSpPr>
        <p:spPr>
          <a:xfrm>
            <a:off x="6638544" y="363016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638544" y="3922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growth is actually profitable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6455664" y="4416552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638544" y="44897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 %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638544" y="47823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how much of "retention" is rented, not earned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6455664" y="5276088"/>
            <a:ext cx="483717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38544" y="53492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ticket volume, QoQ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638544" y="5641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8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scale of the delivery-experience problem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Vision to Feature: The Strategy Cascade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61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1591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big-picture destination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37560" y="1207008"/>
            <a:ext cx="7936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India's most convenient, trusted everyday-commerce platform.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1180719" y="2194560"/>
            <a:ext cx="9827514" cy="969264"/>
          </a:xfrm>
          <a:prstGeom prst="roundRect">
            <a:avLst>
              <a:gd name="adj" fmla="val 8491"/>
            </a:avLst>
          </a:prstGeom>
          <a:solidFill>
            <a:srgbClr val="3D4152"/>
          </a:solidFill>
          <a:ln/>
        </p:spPr>
      </p:sp>
      <p:sp>
        <p:nvSpPr>
          <p:cNvPr id="8" name="Text 6"/>
          <p:cNvSpPr/>
          <p:nvPr/>
        </p:nvSpPr>
        <p:spPr>
          <a:xfrm>
            <a:off x="1455039" y="23225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55039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company gets there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78199" y="2267712"/>
            <a:ext cx="6855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Profitable, sustainable growth in food delivery — driven by habit, not discount volume.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721358" y="3255264"/>
            <a:ext cx="8746236" cy="969264"/>
          </a:xfrm>
          <a:prstGeom prst="roundRect">
            <a:avLst>
              <a:gd name="adj" fmla="val 8491"/>
            </a:avLst>
          </a:prstGeom>
          <a:solidFill>
            <a:srgbClr val="5C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1995678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OBJECTIVE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95678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product team must deliver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18838" y="3328416"/>
            <a:ext cx="57744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0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organic (non-discount) retention and customer lifetime value.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2261997" y="4315968"/>
            <a:ext cx="7664958" cy="969264"/>
          </a:xfrm>
          <a:prstGeom prst="roundRect">
            <a:avLst>
              <a:gd name="adj" fmla="val 8491"/>
            </a:avLst>
          </a:prstGeom>
          <a:solidFill>
            <a:srgbClr val="E0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2536317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TO CHASE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36317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it's actually working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9477" y="4389120"/>
            <a:ext cx="469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time-to-second-order  ·  Raise delivery reliability  ·  Unify onboarding &amp; CX standards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2802636" y="5376672"/>
            <a:ext cx="6583680" cy="969264"/>
          </a:xfrm>
          <a:prstGeom prst="roundRect">
            <a:avLst>
              <a:gd name="adj" fmla="val 8491"/>
            </a:avLst>
          </a:prstGeom>
          <a:solidFill>
            <a:srgbClr val="FC8019"/>
          </a:solidFill>
          <a:ln/>
        </p:spPr>
      </p:sp>
      <p:sp>
        <p:nvSpPr>
          <p:cNvPr id="20" name="Text 18"/>
          <p:cNvSpPr/>
          <p:nvPr/>
        </p:nvSpPr>
        <p:spPr>
          <a:xfrm>
            <a:off x="3076956" y="5504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INITIATIVES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76956" y="5833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we'd actually 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00116" y="544982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Non-monetary re-engagement nudges  ·  SLA-linked restaurant scorecards  ·  Post-first-order CX check-ins  ·  Quality-weighted restaurant ranking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Mapping: Time-to-Second-Order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896112"/>
          </a:xfrm>
          <a:prstGeom prst="roundRect">
            <a:avLst>
              <a:gd name="adj" fmla="val 9184"/>
            </a:avLst>
          </a:prstGeom>
          <a:solidFill>
            <a:srgbClr val="FFF3E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252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new users don't reorder within 30 days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% of first-time users placing a 2nd order within 14 days, without a promo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BEHIND THIS OPPORTUNITY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6060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experience quality — not price — is the primary reorder driver for many first-time users.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40080" y="3374136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3E9"/>
          </a:solidFill>
          <a:ln w="15875">
            <a:solidFill>
              <a:srgbClr val="FC801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3741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741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non-monetary nudges (curated picks, timely reminders) can motivate reorder as effectively as a discount for a meaningful segment.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9464040" y="3547872"/>
            <a:ext cx="1920240" cy="310896"/>
          </a:xfrm>
          <a:prstGeom prst="roundRect">
            <a:avLst>
              <a:gd name="adj" fmla="val 26471"/>
            </a:avLst>
          </a:prstGeom>
          <a:solidFill>
            <a:srgbClr val="E0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9464040" y="3547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— KEY RISK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E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142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14223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3D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segments exist within the 40% — some simply forgot or had one bad delivery; others are habitual deal-seekers who won't respond to nudges at all.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10908792" cy="1572768"/>
          </a:xfrm>
          <a:prstGeom prst="roundRect">
            <a:avLst>
              <a:gd name="adj" fmla="val 5233"/>
            </a:avLst>
          </a:prstGeom>
          <a:solidFill>
            <a:srgbClr val="282C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138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(ICE)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who does it reach, how much would it move the needle, how sure are we, how hard is it to build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91440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all new users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2044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52044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NSM directly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12648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by A2 — unproven until tested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32520" y="5641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32520" y="5888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732520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+ nudge logic, no discount rebuild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Product Leadership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609344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04" y="1747236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9105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shared metric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“orders/day” as the cross-team KPI. Adopt Non-Discount Ordering Rate across Growth, CX, and Onboarding jointly.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3716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9" name="Shape 6"/>
          <p:cNvSpPr/>
          <p:nvPr/>
        </p:nvSpPr>
        <p:spPr>
          <a:xfrm>
            <a:off x="6464808" y="1609344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700" y="1747236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59105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discount spend on evidence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83096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controlled test of non-discount re-engagement nudges before scaling any new promo campaign.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53872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3776472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4" y="3914364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7581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onboarding to delivery outcomes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44531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restaurant onboarding on delivery reliability and CX impact — not sign-up count alone.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08776" y="353872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3D41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64808" y="3776472"/>
            <a:ext cx="530352" cy="530352"/>
          </a:xfrm>
          <a:prstGeom prst="ellipse">
            <a:avLst/>
          </a:prstGeom>
          <a:solidFill>
            <a:srgbClr val="FC801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700" y="3914364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37581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leading indicators on the dashboard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83096" y="44531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time-to-second-order and on-time delivery % weekly, not just lagging revenue at quarter-end.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574243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C8019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5742432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loop before you fund the funnel.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Retention Case Study</dc:title>
  <dc:subject>PptxGenJS Presentation</dc:subject>
  <dc:creator>Rohit</dc:creator>
  <cp:lastModifiedBy>Rohit</cp:lastModifiedBy>
  <cp:revision>1</cp:revision>
  <dcterms:created xsi:type="dcterms:W3CDTF">2026-07-11T04:33:22Z</dcterms:created>
  <dcterms:modified xsi:type="dcterms:W3CDTF">2026-07-11T04:33:22Z</dcterms:modified>
</cp:coreProperties>
</file>